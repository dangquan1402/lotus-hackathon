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12080" y="13716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600"/>
              </a:lnSpc>
              <a:defRPr sz="6400" b="0">
                <a:solidFill>
                  <a:srgbClr val="C8963E"/>
                </a:solidFill>
                <a:latin typeface="Calibri"/>
              </a:defRPr>
            </a:pPr>
            <a:r>
              <a:t>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600"/>
              </a:lnSpc>
              <a:defRPr sz="7200" b="1">
                <a:solidFill>
                  <a:srgbClr val="C8963E"/>
                </a:solidFill>
                <a:latin typeface="Calibri"/>
              </a:defRPr>
            </a:pPr>
            <a:r>
              <a:t>Lumina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00"/>
              </a:lnSpc>
              <a:defRPr sz="2800" b="0">
                <a:solidFill>
                  <a:srgbClr val="FDF8F0"/>
                </a:solidFill>
                <a:latin typeface="Calibri"/>
              </a:defRPr>
            </a:pPr>
            <a:r>
              <a:t>AI-Powered Personalized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297680"/>
            <a:ext cx="2103120" cy="36576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00"/>
              </a:lnSpc>
              <a:defRPr sz="2200" b="0">
                <a:solidFill>
                  <a:srgbClr val="E8C87A"/>
                </a:solidFill>
                <a:latin typeface="Calibri"/>
              </a:defRPr>
            </a:pPr>
            <a:r>
              <a:t>Learn anything, your way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0" cy="54864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00"/>
              </a:lnSpc>
              <a:defRPr sz="3600" b="1">
                <a:solidFill>
                  <a:srgbClr val="1E3A2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spcBef>
                <a:spcPts val="1200"/>
              </a:spcBef>
              <a:spcAft>
                <a:spcPts val="1200"/>
              </a:spcAft>
              <a:defRPr sz="22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One-size-fits-all education doesn't work</a:t>
            </a:r>
          </a:p>
          <a:p>
            <a:pPr>
              <a:lnSpc>
                <a:spcPts val="3000"/>
              </a:lnSpc>
              <a:spcBef>
                <a:spcPts val="1200"/>
              </a:spcBef>
              <a:spcAft>
                <a:spcPts val="1200"/>
              </a:spcAft>
              <a:defRPr sz="22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Learners have different styles, levels, and goals</a:t>
            </a:r>
          </a:p>
          <a:p>
            <a:pPr>
              <a:lnSpc>
                <a:spcPts val="3000"/>
              </a:lnSpc>
              <a:spcBef>
                <a:spcPts val="1200"/>
              </a:spcBef>
              <a:spcAft>
                <a:spcPts val="1200"/>
              </a:spcAft>
              <a:defRPr sz="22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Content is static, not adaptive to individual needs</a:t>
            </a:r>
          </a:p>
          <a:p>
            <a:pPr>
              <a:lnSpc>
                <a:spcPts val="3000"/>
              </a:lnSpc>
              <a:spcBef>
                <a:spcPts val="1200"/>
              </a:spcBef>
              <a:spcAft>
                <a:spcPts val="1200"/>
              </a:spcAft>
              <a:defRPr sz="22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No way to assess what you already know before diving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C8963E"/>
                </a:solidFill>
                <a:latin typeface="Calibri"/>
              </a:defRPr>
            </a:pPr>
            <a:r>
              <a:t>Every learner deserves content that meets them where they 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0" cy="54864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00"/>
              </a:lnSpc>
              <a:defRPr sz="3600" b="1">
                <a:solidFill>
                  <a:srgbClr val="1E3A2F"/>
                </a:solidFill>
                <a:latin typeface="Calibri"/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defRPr sz="2000" b="0">
                <a:solidFill>
                  <a:srgbClr val="8A8A7A"/>
                </a:solidFill>
                <a:latin typeface="Calibri"/>
              </a:defRPr>
            </a:pPr>
            <a:r>
              <a:t>Lumina creates personalized, multi-modal learning experiences: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Bef>
                <a:spcPts val="1000"/>
              </a:spcBef>
              <a:spcAft>
                <a:spcPts val="1000"/>
              </a:spcAft>
              <a:defRPr sz="20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Pre-assessment chat to gauge existing knowledge before generating content</a:t>
            </a:r>
          </a:p>
          <a:p>
            <a:pPr>
              <a:lnSpc>
                <a:spcPts val="2800"/>
              </a:lnSpc>
              <a:spcBef>
                <a:spcPts val="1000"/>
              </a:spcBef>
              <a:spcAft>
                <a:spcPts val="1000"/>
              </a:spcAft>
              <a:defRPr sz="20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AI-generated lessons tailored to your level, style, and interests</a:t>
            </a:r>
          </a:p>
          <a:p>
            <a:pPr>
              <a:lnSpc>
                <a:spcPts val="2800"/>
              </a:lnSpc>
              <a:spcBef>
                <a:spcPts val="1000"/>
              </a:spcBef>
              <a:spcAft>
                <a:spcPts val="1000"/>
              </a:spcAft>
              <a:defRPr sz="20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Videos, slides, quizzes, and flashcards — all auto-generated from one topic</a:t>
            </a:r>
          </a:p>
          <a:p>
            <a:pPr>
              <a:lnSpc>
                <a:spcPts val="2800"/>
              </a:lnSpc>
              <a:spcBef>
                <a:spcPts val="1000"/>
              </a:spcBef>
              <a:spcAft>
                <a:spcPts val="1000"/>
              </a:spcAft>
              <a:defRPr sz="20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AI Chat Tutor — streaming conversational tutor grounded in lesson content</a:t>
            </a:r>
          </a:p>
          <a:p>
            <a:pPr>
              <a:lnSpc>
                <a:spcPts val="2800"/>
              </a:lnSpc>
              <a:spcBef>
                <a:spcPts val="1000"/>
              </a:spcBef>
              <a:spcAft>
                <a:spcPts val="1000"/>
              </a:spcAft>
              <a:defRPr sz="20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Animated video with Grok — static images converted to 6s animated clips</a:t>
            </a:r>
          </a:p>
          <a:p>
            <a:pPr>
              <a:lnSpc>
                <a:spcPts val="2800"/>
              </a:lnSpc>
              <a:spcBef>
                <a:spcPts val="1000"/>
              </a:spcBef>
              <a:spcAft>
                <a:spcPts val="1000"/>
              </a:spcAft>
              <a:defRPr sz="20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Knowledge graph tracking concepts learned across sessions</a:t>
            </a:r>
          </a:p>
          <a:p>
            <a:pPr>
              <a:lnSpc>
                <a:spcPts val="2800"/>
              </a:lnSpc>
              <a:spcBef>
                <a:spcPts val="1000"/>
              </a:spcBef>
              <a:spcAft>
                <a:spcPts val="1000"/>
              </a:spcAft>
              <a:defRPr sz="20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Study plan with AI-recommended next topics based on your progress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0" cy="54864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00"/>
              </a:lnSpc>
              <a:defRPr sz="3600" b="1">
                <a:solidFill>
                  <a:srgbClr val="1E3A2F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1828800"/>
            <a:ext cx="1645920" cy="822960"/>
          </a:xfrm>
          <a:prstGeom prst="roundRect">
            <a:avLst/>
          </a:prstGeom>
          <a:solidFill>
            <a:srgbClr val="1E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DF8F0"/>
                </a:solidFill>
                <a:latin typeface="Calibri"/>
              </a:defRPr>
            </a:pPr>
            <a:r>
              <a:t>User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96596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00"/>
              </a:lnSpc>
              <a:defRPr sz="2800" b="1">
                <a:solidFill>
                  <a:srgbClr val="C8963E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828800"/>
            <a:ext cx="1645920" cy="822960"/>
          </a:xfrm>
          <a:prstGeom prst="roundRect">
            <a:avLst/>
          </a:prstGeom>
          <a:solidFill>
            <a:srgbClr val="1E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DF8F0"/>
                </a:solidFill>
                <a:latin typeface="Calibri"/>
              </a:defRPr>
            </a:pPr>
            <a:r>
              <a:t>Pre-Assessment</a:t>
            </a:r>
            <a:br/>
            <a:r>
              <a:t>(LangGraph)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94760" y="196596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00"/>
              </a:lnSpc>
              <a:defRPr sz="2800" b="1">
                <a:solidFill>
                  <a:srgbClr val="C8963E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1828800"/>
            <a:ext cx="1645920" cy="822960"/>
          </a:xfrm>
          <a:prstGeom prst="roundRect">
            <a:avLst/>
          </a:prstGeom>
          <a:solidFill>
            <a:srgbClr val="1E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DF8F0"/>
                </a:solidFill>
                <a:latin typeface="Calibri"/>
              </a:defRPr>
            </a:pPr>
            <a:r>
              <a:t>Web Search</a:t>
            </a:r>
            <a:br/>
            <a:r>
              <a:t>(Firecrawl)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196596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00"/>
              </a:lnSpc>
              <a:defRPr sz="2800" b="1">
                <a:solidFill>
                  <a:srgbClr val="C8963E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828800"/>
            <a:ext cx="1645920" cy="822960"/>
          </a:xfrm>
          <a:prstGeom prst="roundRect">
            <a:avLst/>
          </a:prstGeom>
          <a:solidFill>
            <a:srgbClr val="1E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DF8F0"/>
                </a:solidFill>
                <a:latin typeface="Calibri"/>
              </a:defRPr>
            </a:pPr>
            <a:r>
              <a:t>Content Synthesis</a:t>
            </a:r>
            <a:br/>
            <a:r>
              <a:t>(LLM)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80" y="196596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00"/>
              </a:lnSpc>
              <a:defRPr sz="2800" b="1">
                <a:solidFill>
                  <a:srgbClr val="C8963E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1645920" cy="822960"/>
          </a:xfrm>
          <a:prstGeom prst="roundRect">
            <a:avLst/>
          </a:prstGeom>
          <a:solidFill>
            <a:srgbClr val="1E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DF8F0"/>
                </a:solidFill>
                <a:latin typeface="Calibri"/>
              </a:defRPr>
            </a:pPr>
            <a:r>
              <a:t>Grok Imagine</a:t>
            </a:r>
            <a:br/>
            <a:r>
              <a:t>(Animated Video)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196596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00"/>
              </a:lnSpc>
              <a:defRPr sz="2800" b="1">
                <a:solidFill>
                  <a:srgbClr val="C8963E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12680" y="1828800"/>
            <a:ext cx="1645920" cy="822960"/>
          </a:xfrm>
          <a:prstGeom prst="roundRect">
            <a:avLst/>
          </a:prstGeom>
          <a:solidFill>
            <a:srgbClr val="1E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DF8F0"/>
                </a:solidFill>
                <a:latin typeface="Calibri"/>
              </a:defRPr>
            </a:pPr>
            <a:r>
              <a:t>Multi-modal Output</a:t>
            </a:r>
            <a:br/>
            <a:r>
              <a:t>(Video/Slides/Quiz)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defRPr sz="2000" b="1">
                <a:solidFill>
                  <a:srgbClr val="C8963E"/>
                </a:solidFill>
                <a:latin typeface="Calibri"/>
              </a:defRPr>
            </a:pPr>
            <a:r>
              <a:t>Tech 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49039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Frontend: React + Vite + Tailwind CSS</a:t>
            </a:r>
          </a:p>
          <a:p>
            <a:pPr>
              <a:lnSpc>
                <a:spcPts val="22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Backend: FastAPI + SQLAlchemy + PostgreSQL</a:t>
            </a:r>
          </a:p>
          <a:p>
            <a:pPr>
              <a:lnSpc>
                <a:spcPts val="22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AI Pipeline: LangGraph (assessment + chat) → FuseAPI (multi-model LLM routing) → Remotion (video)</a:t>
            </a:r>
          </a:p>
          <a:p>
            <a:pPr>
              <a:lnSpc>
                <a:spcPts val="22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Search: Firecrawl (web scraping + search)</a:t>
            </a:r>
          </a:p>
          <a:p>
            <a:pPr>
              <a:lnSpc>
                <a:spcPts val="22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Voice: mlx-whisper (alignment), TTS narration</a:t>
            </a:r>
          </a:p>
          <a:p>
            <a:pPr>
              <a:lnSpc>
                <a:spcPts val="2200"/>
              </a:lnSpc>
              <a:spcBef>
                <a:spcPts val="600"/>
              </a:spcBef>
              <a:spcAft>
                <a:spcPts val="600"/>
              </a:spcAft>
              <a:defRPr sz="16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Visualization: Markmap (mind maps), react-force-graph (knowledge graph)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0" cy="54864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00"/>
              </a:lnSpc>
              <a:defRPr sz="3600" b="1">
                <a:solidFill>
                  <a:srgbClr val="1E3A2F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508760"/>
            <a:ext cx="320040" cy="320040"/>
          </a:xfrm>
          <a:prstGeom prst="ellipse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4630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1">
                <a:solidFill>
                  <a:srgbClr val="1E3A2F"/>
                </a:solidFill>
                <a:latin typeface="Calibri"/>
              </a:defRPr>
            </a:pPr>
            <a:r>
              <a:t>Chat-based Pre-Assessment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8A8A7A"/>
                </a:solidFill>
                <a:latin typeface="Calibri"/>
              </a:defRPr>
            </a:pPr>
            <a:r>
              <a:t>LangGraph-powered conversation to gauge knowledge before lesson generation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57400"/>
            <a:ext cx="320040" cy="320040"/>
          </a:xfrm>
          <a:prstGeom prst="ellipse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0116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1">
                <a:solidFill>
                  <a:srgbClr val="1E3A2F"/>
                </a:solidFill>
                <a:latin typeface="Calibri"/>
              </a:defRPr>
            </a:pPr>
            <a:r>
              <a:t>AI Chat Tutor with Streaming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8A8A7A"/>
                </a:solidFill>
                <a:latin typeface="Calibri"/>
              </a:defRPr>
            </a:pPr>
            <a:r>
              <a:t>Real-time SSE conversational tutor grounded in lesson content + web search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603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1">
                <a:solidFill>
                  <a:srgbClr val="1E3A2F"/>
                </a:solidFill>
                <a:latin typeface="Calibri"/>
              </a:defRPr>
            </a:pPr>
            <a:r>
              <a:t>Animated Video Generation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8A8A7A"/>
                </a:solidFill>
                <a:latin typeface="Calibri"/>
              </a:defRPr>
            </a:pPr>
            <a:r>
              <a:t>Grok Imagine converts images to 6s clips, Remotion renders with timing sync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154680"/>
            <a:ext cx="320040" cy="320040"/>
          </a:xfrm>
          <a:prstGeom prst="ellipse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1089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1">
                <a:solidFill>
                  <a:srgbClr val="1E3A2F"/>
                </a:solidFill>
                <a:latin typeface="Calibri"/>
              </a:defRPr>
            </a:pPr>
            <a:r>
              <a:t>Playbook Mode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8A8A7A"/>
                </a:solidFill>
                <a:latin typeface="Calibri"/>
              </a:defRPr>
            </a:pPr>
            <a:r>
              <a:t>Per-section audio with auto-play and auto-advance in slide presenter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703320"/>
            <a:ext cx="320040" cy="320040"/>
          </a:xfrm>
          <a:prstGeom prst="ellipse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657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1">
                <a:solidFill>
                  <a:srgbClr val="1E3A2F"/>
                </a:solidFill>
                <a:latin typeface="Calibri"/>
              </a:defRPr>
            </a:pPr>
            <a:r>
              <a:t>Interactive Slide Presenter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8A8A7A"/>
                </a:solidFill>
                <a:latin typeface="Calibri"/>
              </a:defRPr>
            </a:pPr>
            <a:r>
              <a:t>In-browser slides with AI images, keyboard nav, and PPTX download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1508760"/>
            <a:ext cx="320040" cy="320040"/>
          </a:xfrm>
          <a:prstGeom prst="ellipse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14630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1">
                <a:solidFill>
                  <a:srgbClr val="1E3A2F"/>
                </a:solidFill>
                <a:latin typeface="Calibri"/>
              </a:defRPr>
            </a:pPr>
            <a:r>
              <a:t>7 Visual Styles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8A8A7A"/>
                </a:solidFill>
                <a:latin typeface="Calibri"/>
              </a:defRPr>
            </a:pPr>
            <a:r>
              <a:t>Cartoon, watercolor, photorealistic, minimalist, anime, scientific, 3D render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057400"/>
            <a:ext cx="320040" cy="320040"/>
          </a:xfrm>
          <a:prstGeom prst="ellipse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0116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1">
                <a:solidFill>
                  <a:srgbClr val="1E3A2F"/>
                </a:solidFill>
                <a:latin typeface="Calibri"/>
              </a:defRPr>
            </a:pPr>
            <a:r>
              <a:t>Cross-session Knowledge Graph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8A8A7A"/>
                </a:solidFill>
                <a:latin typeface="Calibri"/>
              </a:defRPr>
            </a:pPr>
            <a:r>
              <a:t>Force-graph linking topics to concepts across all sessions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2606040"/>
            <a:ext cx="320040" cy="320040"/>
          </a:xfrm>
          <a:prstGeom prst="ellipse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5603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1">
                <a:solidFill>
                  <a:srgbClr val="1E3A2F"/>
                </a:solidFill>
                <a:latin typeface="Calibri"/>
              </a:defRPr>
            </a:pPr>
            <a:r>
              <a:t>Mind Map &amp; Flashcards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8A8A7A"/>
                </a:solidFill>
                <a:latin typeface="Calibri"/>
              </a:defRPr>
            </a:pPr>
            <a:r>
              <a:t>Markmap concept trees + flip cards with mastery tracking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3154680"/>
            <a:ext cx="320040" cy="320040"/>
          </a:xfrm>
          <a:prstGeom prst="ellipse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1089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1">
                <a:solidFill>
                  <a:srgbClr val="1E3A2F"/>
                </a:solidFill>
                <a:latin typeface="Calibri"/>
              </a:defRPr>
            </a:pPr>
            <a:r>
              <a:t>Learning Analytics &amp; Study Plan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8A8A7A"/>
                </a:solidFill>
                <a:latin typeface="Calibri"/>
              </a:defRPr>
            </a:pPr>
            <a:r>
              <a:t>Timeline, session stats, and AI-recommended next topics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1">
                <a:solidFill>
                  <a:srgbClr val="C8963E"/>
                </a:solidFill>
                <a:latin typeface="Calibri"/>
              </a:defRPr>
            </a:pPr>
            <a:r>
              <a:t>DEMO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731520" cy="54864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00"/>
              </a:lnSpc>
              <a:defRPr sz="3600" b="1">
                <a:solidFill>
                  <a:srgbClr val="FDF8F0"/>
                </a:solidFill>
                <a:latin typeface="Calibri"/>
              </a:defRPr>
            </a:pPr>
            <a:r>
              <a:t>Live Walkthrough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1828800"/>
            <a:ext cx="320040" cy="320040"/>
          </a:xfrm>
          <a:prstGeom prst="ellipse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E3A2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470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FDF8F0"/>
                </a:solidFill>
                <a:latin typeface="Calibri"/>
              </a:defRPr>
            </a:pPr>
            <a:r>
              <a:t>Enter topic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84708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E8C87A"/>
                </a:solidFill>
                <a:latin typeface="Calibri"/>
              </a:defRPr>
            </a:pPr>
            <a:r>
              <a:t>Type any learning topic into the search bar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350007"/>
            <a:ext cx="320040" cy="320040"/>
          </a:xfrm>
          <a:prstGeom prst="ellipse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E3A2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368295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FDF8F0"/>
                </a:solidFill>
                <a:latin typeface="Calibri"/>
              </a:defRPr>
            </a:pPr>
            <a:r>
              <a:t>Pre-assessment 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368295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E8C87A"/>
                </a:solidFill>
                <a:latin typeface="Calibri"/>
              </a:defRPr>
            </a:pPr>
            <a:r>
              <a:t>AI asks targeted questions to gauge existing knowledge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2871214"/>
            <a:ext cx="320040" cy="320040"/>
          </a:xfrm>
          <a:prstGeom prst="ellipse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E3A2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8950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FDF8F0"/>
                </a:solidFill>
                <a:latin typeface="Calibri"/>
              </a:defRPr>
            </a:pPr>
            <a:r>
              <a:t>AI generates lesson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88950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E8C87A"/>
                </a:solidFill>
                <a:latin typeface="Calibri"/>
              </a:defRPr>
            </a:pPr>
            <a:r>
              <a:t>Web search + LLM synthesizes personalized content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3392421"/>
            <a:ext cx="320040" cy="320040"/>
          </a:xfrm>
          <a:prstGeom prst="ellipse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E3A2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1070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FDF8F0"/>
                </a:solidFill>
                <a:latin typeface="Calibri"/>
              </a:defRPr>
            </a:pPr>
            <a:r>
              <a:t>View slides with images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410709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E8C87A"/>
                </a:solidFill>
                <a:latin typeface="Calibri"/>
              </a:defRPr>
            </a:pPr>
            <a:r>
              <a:t>Navigate AI-generated slides with multiple images per section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3913628"/>
            <a:ext cx="320040" cy="320040"/>
          </a:xfrm>
          <a:prstGeom prst="ellipse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E3A2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93191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FDF8F0"/>
                </a:solidFill>
                <a:latin typeface="Calibri"/>
              </a:defRPr>
            </a:pPr>
            <a:r>
              <a:t>Chat with AI tutor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931916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E8C87A"/>
                </a:solidFill>
                <a:latin typeface="Calibri"/>
              </a:defRPr>
            </a:pPr>
            <a:r>
              <a:t>Ask follow-up questions with streaming responses and source citations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4434835"/>
            <a:ext cx="320040" cy="320040"/>
          </a:xfrm>
          <a:prstGeom prst="ellipse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E3A2F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453123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FDF8F0"/>
                </a:solidFill>
                <a:latin typeface="Calibri"/>
              </a:defRPr>
            </a:pPr>
            <a:r>
              <a:t>Watch animated video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4453123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E8C87A"/>
                </a:solidFill>
                <a:latin typeface="Calibri"/>
              </a:defRPr>
            </a:pPr>
            <a:r>
              <a:t>AI-generated animated clips with narrated audio</a:t>
            </a:r>
          </a:p>
        </p:txBody>
      </p:sp>
      <p:sp>
        <p:nvSpPr>
          <p:cNvPr id="23" name="Oval 22"/>
          <p:cNvSpPr/>
          <p:nvPr/>
        </p:nvSpPr>
        <p:spPr>
          <a:xfrm>
            <a:off x="914400" y="4956042"/>
            <a:ext cx="320040" cy="320040"/>
          </a:xfrm>
          <a:prstGeom prst="ellipse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E3A2F"/>
                </a:solidFill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7433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FDF8F0"/>
                </a:solidFill>
                <a:latin typeface="Calibri"/>
              </a:defRPr>
            </a:pPr>
            <a:r>
              <a:t>Take quiz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97433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E8C87A"/>
                </a:solidFill>
                <a:latin typeface="Calibri"/>
              </a:defRPr>
            </a:pPr>
            <a:r>
              <a:t>Test understanding with auto-generated questions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477249"/>
            <a:ext cx="320040" cy="320040"/>
          </a:xfrm>
          <a:prstGeom prst="ellipse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E3A2F"/>
                </a:solidFill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495537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FDF8F0"/>
                </a:solidFill>
                <a:latin typeface="Calibri"/>
              </a:defRPr>
            </a:pPr>
            <a:r>
              <a:t>Explore mind 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495537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E8C87A"/>
                </a:solidFill>
                <a:latin typeface="Calibri"/>
              </a:defRPr>
            </a:pPr>
            <a:r>
              <a:t>Interactive concept tree visualization</a:t>
            </a:r>
          </a:p>
        </p:txBody>
      </p:sp>
      <p:sp>
        <p:nvSpPr>
          <p:cNvPr id="29" name="Oval 28"/>
          <p:cNvSpPr/>
          <p:nvPr/>
        </p:nvSpPr>
        <p:spPr>
          <a:xfrm>
            <a:off x="914400" y="5998456"/>
            <a:ext cx="320040" cy="320040"/>
          </a:xfrm>
          <a:prstGeom prst="ellipse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E3A2F"/>
                </a:solidFill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601674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FDF8F0"/>
                </a:solidFill>
                <a:latin typeface="Calibri"/>
              </a:defRPr>
            </a:pPr>
            <a:r>
              <a:t>Review knowledge graph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601674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E8C87A"/>
                </a:solidFill>
                <a:latin typeface="Calibri"/>
              </a:defRPr>
            </a:pPr>
            <a:r>
              <a:t>See connections across all learning sessions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0" cy="54864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00"/>
              </a:lnSpc>
              <a:defRPr sz="3600" b="1">
                <a:solidFill>
                  <a:srgbClr val="1E3A2F"/>
                </a:solidFill>
                <a:latin typeface="Calibri"/>
              </a:defRPr>
            </a:pPr>
            <a:r>
              <a:t>What Makes Us Different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83080"/>
            <a:ext cx="45720" cy="457200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6459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1E3A2F"/>
                </a:solidFill>
                <a:latin typeface="Calibri"/>
              </a:defRPr>
            </a:pPr>
            <a:r>
              <a:t>Pre-assessment BEFORE content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01168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>
                <a:solidFill>
                  <a:srgbClr val="8A8A7A"/>
                </a:solidFill>
                <a:latin typeface="Calibri"/>
              </a:defRPr>
            </a:pPr>
            <a:r>
              <a:t>Most platforms test you after — Lumina adapts the lesson itself based on what you already know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697480"/>
            <a:ext cx="45720" cy="457200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5603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1E3A2F"/>
                </a:solidFill>
                <a:latin typeface="Calibri"/>
              </a:defRPr>
            </a:pPr>
            <a:r>
              <a:t>Multi-modal from ONE topic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>
                <a:solidFill>
                  <a:srgbClr val="8A8A7A"/>
                </a:solidFill>
                <a:latin typeface="Calibri"/>
              </a:defRPr>
            </a:pPr>
            <a:r>
              <a:t>Video + slides + quiz + flashcards + mind map — all generated from a single topic input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611880"/>
            <a:ext cx="45720" cy="457200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4747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1E3A2F"/>
                </a:solidFill>
                <a:latin typeface="Calibri"/>
              </a:defRPr>
            </a:pPr>
            <a:r>
              <a:t>Real-time streaming AI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4048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>
                <a:solidFill>
                  <a:srgbClr val="8A8A7A"/>
                </a:solidFill>
                <a:latin typeface="Calibri"/>
              </a:defRPr>
            </a:pPr>
            <a:r>
              <a:t>LangGraph-powered conversational tutor with SSE streaming and source citations from web search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526280"/>
            <a:ext cx="45720" cy="457200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3891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1E3A2F"/>
                </a:solidFill>
                <a:latin typeface="Calibri"/>
              </a:defRPr>
            </a:pPr>
            <a:r>
              <a:t>Cross-session knowledge graph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75488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>
                <a:solidFill>
                  <a:srgbClr val="8A8A7A"/>
                </a:solidFill>
                <a:latin typeface="Calibri"/>
              </a:defRPr>
            </a:pPr>
            <a:r>
              <a:t>Obsidian-style concept linking across all your learning sessions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440680"/>
            <a:ext cx="45720" cy="457200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3035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1E3A2F"/>
                </a:solidFill>
                <a:latin typeface="Calibri"/>
              </a:defRPr>
            </a:pPr>
            <a:r>
              <a:t>Open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66928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>
                <a:solidFill>
                  <a:srgbClr val="8A8A7A"/>
                </a:solidFill>
                <a:latin typeface="Calibri"/>
              </a:defRPr>
            </a:pPr>
            <a:r>
              <a:t>FuseAPI routes to any LLM (Gemini, Claude, GPT). Grok for animation. Swap any component.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1">
                <a:solidFill>
                  <a:srgbClr val="C8963E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731520" cy="54864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00"/>
              </a:lnSpc>
              <a:defRPr sz="3600" b="1">
                <a:solidFill>
                  <a:srgbClr val="FDF8F0"/>
                </a:solidFill>
                <a:latin typeface="Calibri"/>
              </a:defRPr>
            </a:pPr>
            <a:r>
              <a:t>Tech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713232"/>
          </a:xfrm>
          <a:prstGeom prst="roundRect">
            <a:avLst/>
          </a:prstGeom>
          <a:solidFill>
            <a:srgbClr val="2D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C8963E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FDF8F0"/>
                </a:solidFill>
                <a:latin typeface="Calibri"/>
              </a:defRPr>
            </a:pPr>
            <a:r>
              <a:t>React, Vite, Tailwind CSS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80360"/>
            <a:ext cx="5029200" cy="713232"/>
          </a:xfrm>
          <a:prstGeom prst="roundRect">
            <a:avLst/>
          </a:prstGeom>
          <a:solidFill>
            <a:srgbClr val="2D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718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C8963E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918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FDF8F0"/>
                </a:solidFill>
                <a:latin typeface="Calibri"/>
              </a:defRPr>
            </a:pPr>
            <a:r>
              <a:t>FastAPI, SQLAlchemy, PostgreSQL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40"/>
            <a:ext cx="5029200" cy="713232"/>
          </a:xfrm>
          <a:prstGeom prst="roundRect">
            <a:avLst/>
          </a:prstGeom>
          <a:solidFill>
            <a:srgbClr val="2D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404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C8963E"/>
                </a:solidFill>
                <a:latin typeface="Calibri"/>
              </a:defRPr>
            </a:pPr>
            <a:r>
              <a:t>AI /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FDF8F0"/>
                </a:solidFill>
                <a:latin typeface="Calibri"/>
              </a:defRPr>
            </a:pPr>
            <a:r>
              <a:t>LangGraph (assessment + chat), FuseAPI (multi-model routing)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17720"/>
            <a:ext cx="5029200" cy="713232"/>
          </a:xfrm>
          <a:prstGeom prst="roundRect">
            <a:avLst/>
          </a:prstGeom>
          <a:solidFill>
            <a:srgbClr val="2D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091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C8963E"/>
                </a:solidFill>
                <a:latin typeface="Calibri"/>
              </a:defRPr>
            </a:pPr>
            <a:r>
              <a:t>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0292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FDF8F0"/>
                </a:solidFill>
                <a:latin typeface="Calibri"/>
              </a:defRPr>
            </a:pPr>
            <a:r>
              <a:t>Firecrawl (web scraping + search)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86400"/>
            <a:ext cx="5029200" cy="713232"/>
          </a:xfrm>
          <a:prstGeom prst="roundRect">
            <a:avLst/>
          </a:prstGeom>
          <a:solidFill>
            <a:srgbClr val="2D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5778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C8963E"/>
                </a:solidFill>
                <a:latin typeface="Calibri"/>
              </a:defRPr>
            </a:pPr>
            <a:r>
              <a:t>Video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978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FDF8F0"/>
                </a:solidFill>
                <a:latin typeface="Calibri"/>
              </a:defRPr>
            </a:pPr>
            <a:r>
              <a:t>Remotion (programmatic video generation)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011680"/>
            <a:ext cx="5029200" cy="713232"/>
          </a:xfrm>
          <a:prstGeom prst="roundRect">
            <a:avLst/>
          </a:prstGeom>
          <a:solidFill>
            <a:srgbClr val="2D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1031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C8963E"/>
                </a:solidFill>
                <a:latin typeface="Calibri"/>
              </a:defRPr>
            </a:pPr>
            <a:r>
              <a:t>Animation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4231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FDF8F0"/>
                </a:solidFill>
                <a:latin typeface="Calibri"/>
              </a:defRPr>
            </a:pPr>
            <a:r>
              <a:t>Grok Imagine API (image-to-video)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880360"/>
            <a:ext cx="5029200" cy="713232"/>
          </a:xfrm>
          <a:prstGeom prst="roundRect">
            <a:avLst/>
          </a:prstGeom>
          <a:solidFill>
            <a:srgbClr val="2D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9718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C8963E"/>
                </a:solidFill>
                <a:latin typeface="Calibri"/>
              </a:defRPr>
            </a:pPr>
            <a:r>
              <a:t>Voice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FDF8F0"/>
                </a:solidFill>
                <a:latin typeface="Calibri"/>
              </a:defRPr>
            </a:pPr>
            <a:r>
              <a:t>mlx-whisper (alignment), TTS narration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749040"/>
            <a:ext cx="5029200" cy="713232"/>
          </a:xfrm>
          <a:prstGeom prst="roundRect">
            <a:avLst/>
          </a:prstGeom>
          <a:solidFill>
            <a:srgbClr val="2D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8404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C8963E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1605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FDF8F0"/>
                </a:solidFill>
                <a:latin typeface="Calibri"/>
              </a:defRPr>
            </a:pPr>
            <a:r>
              <a:t>Markmap (mind maps), react-force-graph (knowledge graph)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617720"/>
            <a:ext cx="5029200" cy="713232"/>
          </a:xfrm>
          <a:prstGeom prst="roundRect">
            <a:avLst/>
          </a:prstGeom>
          <a:solidFill>
            <a:srgbClr val="2D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7091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C8963E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0292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FDF8F0"/>
                </a:solidFill>
                <a:latin typeface="Calibri"/>
              </a:defRPr>
            </a:pPr>
            <a:r>
              <a:t>Docker Compose (4 services: frontend, backend, db, remotion)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731520" cy="54864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00"/>
              </a:lnSpc>
              <a:defRPr sz="3600" b="1">
                <a:solidFill>
                  <a:srgbClr val="1E3A2F"/>
                </a:solidFill>
                <a:latin typeface="Calibri"/>
              </a:defRPr>
            </a:pPr>
            <a:r>
              <a:t>Future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spcBef>
                <a:spcPts val="1400"/>
              </a:spcBef>
              <a:spcAft>
                <a:spcPts val="1400"/>
              </a:spcAft>
              <a:defRPr sz="22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Real-time collaborative learning (study groups)</a:t>
            </a:r>
          </a:p>
          <a:p>
            <a:pPr>
              <a:lnSpc>
                <a:spcPts val="3000"/>
              </a:lnSpc>
              <a:spcBef>
                <a:spcPts val="1400"/>
              </a:spcBef>
              <a:spcAft>
                <a:spcPts val="1400"/>
              </a:spcAft>
              <a:defRPr sz="22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Spaced repetition algorithm for flashcard scheduling</a:t>
            </a:r>
          </a:p>
          <a:p>
            <a:pPr>
              <a:lnSpc>
                <a:spcPts val="3000"/>
              </a:lnSpc>
              <a:spcBef>
                <a:spcPts val="1400"/>
              </a:spcBef>
              <a:spcAft>
                <a:spcPts val="1400"/>
              </a:spcAft>
              <a:defRPr sz="22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Teacher / instructor mode with class analytics</a:t>
            </a:r>
          </a:p>
          <a:p>
            <a:pPr>
              <a:lnSpc>
                <a:spcPts val="3000"/>
              </a:lnSpc>
              <a:spcBef>
                <a:spcPts val="1400"/>
              </a:spcBef>
              <a:spcAft>
                <a:spcPts val="1400"/>
              </a:spcAft>
              <a:defRPr sz="22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Mobile app (Capacitor integration already scaffolded)</a:t>
            </a:r>
          </a:p>
          <a:p>
            <a:pPr>
              <a:lnSpc>
                <a:spcPts val="3000"/>
              </a:lnSpc>
              <a:spcBef>
                <a:spcPts val="1400"/>
              </a:spcBef>
              <a:spcAft>
                <a:spcPts val="1400"/>
              </a:spcAft>
              <a:defRPr sz="22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Multi-language support with localized narration</a:t>
            </a:r>
          </a:p>
          <a:p>
            <a:pPr>
              <a:lnSpc>
                <a:spcPts val="3000"/>
              </a:lnSpc>
              <a:spcBef>
                <a:spcPts val="1400"/>
              </a:spcBef>
              <a:spcAft>
                <a:spcPts val="1400"/>
              </a:spcAft>
              <a:defRPr sz="2200">
                <a:solidFill>
                  <a:srgbClr val="1A1A1A"/>
                </a:solidFill>
                <a:latin typeface="Calibri"/>
              </a:defRPr>
              <a:buFont typeface="Arial"/>
              <a:buChar char="●"/>
              <a:buClr>
                <a:srgbClr val="C8963E"/>
              </a:buClr>
            </a:pPr>
            <a:r>
              <a:t>Adaptive difficulty that adjusts in real-time during lessons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600"/>
              </a:lnSpc>
              <a:defRPr sz="6400" b="0">
                <a:solidFill>
                  <a:srgbClr val="C8963E"/>
                </a:solidFill>
                <a:latin typeface="Calibri"/>
              </a:defRPr>
            </a:pPr>
            <a:r>
              <a:t>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700"/>
              </a:lnSpc>
              <a:defRPr sz="5600" b="1">
                <a:solidFill>
                  <a:srgbClr val="C8963E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383280"/>
            <a:ext cx="2103120" cy="36576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00"/>
              </a:lnSpc>
              <a:defRPr sz="2200" b="0">
                <a:solidFill>
                  <a:srgbClr val="FDF8F0"/>
                </a:solidFill>
                <a:latin typeface="Calibri"/>
              </a:defRPr>
            </a:pPr>
            <a:r>
              <a:t>Built at FuseAPI AI Hackathon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00"/>
              </a:lnSpc>
              <a:defRPr sz="1800" b="0">
                <a:solidFill>
                  <a:srgbClr val="E8C87A"/>
                </a:solidFill>
                <a:latin typeface="Calibri"/>
              </a:defRPr>
            </a:pPr>
            <a:r>
              <a:t>Try it: localhost:3000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3035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00"/>
              </a:lnSpc>
              <a:defRPr sz="1600" b="0">
                <a:solidFill>
                  <a:srgbClr val="8A8A7A"/>
                </a:solidFill>
                <a:latin typeface="Calibri"/>
              </a:defRPr>
            </a:pPr>
            <a:r>
              <a:t>Lumina — Learn anything, your way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