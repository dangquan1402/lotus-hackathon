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02920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20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00"/>
              </a:lnSpc>
              <a:defRPr sz="6400" b="0">
                <a:solidFill>
                  <a:srgbClr val="C8963E"/>
                </a:solidFill>
                <a:latin typeface="Calibri"/>
              </a:defRPr>
            </a:pPr>
            <a:r>
              <a:t>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00"/>
              </a:lnSpc>
              <a:defRPr sz="7200" b="1">
                <a:solidFill>
                  <a:srgbClr val="C8963E"/>
                </a:solidFill>
                <a:latin typeface="Calibri"/>
              </a:defRPr>
            </a:pPr>
            <a:r>
              <a:t>Lumina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0">
                <a:solidFill>
                  <a:srgbClr val="FDF8F0"/>
                </a:solidFill>
                <a:latin typeface="Calibri"/>
              </a:defRPr>
            </a:pPr>
            <a:r>
              <a:t>AI-Powered Personalized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97680"/>
            <a:ext cx="210312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0">
                <a:solidFill>
                  <a:srgbClr val="E8C87A"/>
                </a:solidFill>
                <a:latin typeface="Calibri"/>
              </a:defRPr>
            </a:pPr>
            <a:r>
              <a:t>Learn anything, your 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One-size-fits-all education doesn't work</a:t>
            </a:r>
          </a:p>
          <a:p>
            <a:pPr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Learners have different styles, levels, and goals</a:t>
            </a:r>
          </a:p>
          <a:p>
            <a:pPr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Content is static, not adaptive to individual needs</a:t>
            </a:r>
          </a:p>
          <a:p>
            <a:pPr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No way to assess what you already know before diving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C8963E"/>
                </a:solidFill>
                <a:latin typeface="Calibri"/>
              </a:defRPr>
            </a:pPr>
            <a:r>
              <a:t>Every learner deserves content that meets them where they 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3_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8A8A7A"/>
                </a:solidFill>
                <a:latin typeface="Calibri"/>
              </a:defRPr>
            </a:pPr>
            <a:r>
              <a:t>Lumina creates personalized, multi-modal learning experiences: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Pre-assessment chat to gauge existing knowledge before generating content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AI-generated lessons tailored to your level, style, and interests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Videos, slides, quizzes, and flashcards — all auto-generated from one topic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AI Chat Tutor — streaming conversational tutor grounded in lesson content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Animated video with Grok — static images converted to 6s animated clips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Knowledge graph tracking concepts learned across sessions</a:t>
            </a:r>
          </a:p>
          <a:p>
            <a:pPr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Study plan with AI-recommended next topics based on your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User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C8963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Pre-Assessment</a:t>
            </a:r>
            <a:br/>
            <a:r>
              <a:t>(LangGraph)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9659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C8963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Web Search</a:t>
            </a:r>
            <a:br/>
            <a:r>
              <a:t>(Firecrawl)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659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C8963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Content Synthesis</a:t>
            </a:r>
            <a:br/>
            <a:r>
              <a:t>(LLM)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19659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C8963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Grok Imagine</a:t>
            </a:r>
            <a:br/>
            <a:r>
              <a:t>(Animated Video)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9659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800" b="1">
                <a:solidFill>
                  <a:srgbClr val="C8963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828800"/>
            <a:ext cx="1645920" cy="822960"/>
          </a:xfrm>
          <a:prstGeom prst="round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F8F0"/>
                </a:solidFill>
                <a:latin typeface="Calibri"/>
              </a:defRPr>
            </a:pPr>
            <a:r>
              <a:t>Multi-modal Output</a:t>
            </a:r>
            <a:br/>
            <a:r>
              <a:t>(Video/Slides/Quiz)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C8963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Frontend: React + Vite + Tailwind CSS</a:t>
            </a:r>
          </a:p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Backend: FastAPI + SQLAlchemy + PostgreSQL</a:t>
            </a:r>
          </a:p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AI Pipeline: LangGraph (assessment + chat) → FuseAPI (multi-model LLM routing) → Remotion (video)</a:t>
            </a:r>
          </a:p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Search: Firecrawl (web scraping + search)</a:t>
            </a:r>
          </a:p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Voice: mlx-whisper (alignment), TTS narration</a:t>
            </a:r>
          </a:p>
          <a:p>
            <a:pPr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Visualization: Markmap (mind maps), react-force-graph (knowledge graph)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Chat-based Pre-Assessment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LangGraph-powered conversation to gauge knowledge before lesson generation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AI Chat Tutor with Streaming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Real-time SSE conversational tutor grounded in lesson content + web search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Animated Video Generation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Grok Imagine converts images to 6s clips, Remotion renders with timing sync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Playbook Mode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Per-section audio with auto-play and auto-advance in slide presenter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0332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Interactive Slide Presenter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In-browser slides with AI images, keyboard nav, and PPTX download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50876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463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7 Visual Styles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Cartoon, watercolor, photorealistic, minimalist, anime, scientific, 3D render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05740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Cross-session Knowledge Graph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Force-graph linking topics to concepts across all sessions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60604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Mind Map &amp; Flashcards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Markmap concept trees + flip cards with mastery tracking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15468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08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E3A2F"/>
                </a:solidFill>
                <a:latin typeface="Calibri"/>
              </a:defRPr>
            </a:pPr>
            <a:r>
              <a:t>Learning Analytics &amp; Study Plan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A8A7A"/>
                </a:solidFill>
                <a:latin typeface="Calibri"/>
              </a:defRPr>
            </a:pPr>
            <a:r>
              <a:t>Timeline, session stats, and AI-recommended next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C8963E"/>
                </a:solidFill>
                <a:latin typeface="Calibri"/>
              </a:defRPr>
            </a:pPr>
            <a: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DF8F0"/>
                </a:solidFill>
                <a:latin typeface="Calibri"/>
              </a:defRPr>
            </a:pPr>
            <a:r>
              <a:t>Live Walkthrough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Enter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470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Type any learning topic into the search bar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0007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6829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Pre-assessment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6829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AI asks targeted questions to gauge existing knowledge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71214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950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AI generates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950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Web search + LLM synthesizes personalized content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92421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1070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View slides with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1070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Navigate AI-generated slides with multiple images per section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13628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Chat with AI tutor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93191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Ask follow-up questions with streaming responses and source citations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434835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5312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Watch animated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5312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AI-generated animated clips with narrated audio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956042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7433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Take 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97433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Test understanding with auto-generated questions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477249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49553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Explore mind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49553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Interactive concept tree visualization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998456"/>
            <a:ext cx="320040" cy="320040"/>
          </a:xfrm>
          <a:prstGeom prst="ellipse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2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6016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DF8F0"/>
                </a:solidFill>
                <a:latin typeface="Calibri"/>
              </a:defRPr>
            </a:pPr>
            <a:r>
              <a:t>Review knowledge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60167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E8C87A"/>
                </a:solidFill>
                <a:latin typeface="Calibri"/>
              </a:defRPr>
            </a:pPr>
            <a:r>
              <a:t>See connections across all learning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7_differentia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75488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What Makes Us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45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E3A2F"/>
                </a:solidFill>
                <a:latin typeface="Calibri"/>
              </a:defRPr>
            </a:pPr>
            <a:r>
              <a:t>Pre-assessment BEFORE content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A8A7A"/>
                </a:solidFill>
                <a:latin typeface="Calibri"/>
              </a:defRPr>
            </a:pPr>
            <a:r>
              <a:t>Most platforms test you after — Lumina adapts the lesson itself based on what you already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45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E3A2F"/>
                </a:solidFill>
                <a:latin typeface="Calibri"/>
              </a:defRPr>
            </a:pPr>
            <a:r>
              <a:t>Multi-modal from ONE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A8A7A"/>
                </a:solidFill>
                <a:latin typeface="Calibri"/>
              </a:defRPr>
            </a:pPr>
            <a:r>
              <a:t>Video + slides + quiz + flashcards + mind map — all generated from a single topic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80"/>
            <a:ext cx="45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E3A2F"/>
                </a:solidFill>
                <a:latin typeface="Calibri"/>
              </a:defRPr>
            </a:pPr>
            <a:r>
              <a:t>Real-time streaming AI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A8A7A"/>
                </a:solidFill>
                <a:latin typeface="Calibri"/>
              </a:defRPr>
            </a:pPr>
            <a:r>
              <a:t>LangGraph-powered conversational tutor with SSE streaming and source citations from web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26280"/>
            <a:ext cx="45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E3A2F"/>
                </a:solidFill>
                <a:latin typeface="Calibri"/>
              </a:defRPr>
            </a:pPr>
            <a:r>
              <a:t>Cross-session 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A8A7A"/>
                </a:solidFill>
                <a:latin typeface="Calibri"/>
              </a:defRPr>
            </a:pPr>
            <a:r>
              <a:t>Obsidian-style concept linking across all your learning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440680"/>
            <a:ext cx="45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E3A2F"/>
                </a:solidFill>
                <a:latin typeface="Calibri"/>
              </a:defRPr>
            </a:pPr>
            <a:r>
              <a:t>Open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A8A7A"/>
                </a:solidFill>
                <a:latin typeface="Calibri"/>
              </a:defRPr>
            </a:pPr>
            <a:r>
              <a:t>FuseAPI routes to any LLM (Gemini, Claude, GPT). Grok for animation. Swap any component.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C8963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FDF8F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React, Vite,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FastAPI, SQLAlchemy,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LangGraph (assessment + chat), FuseAPI (multi-model routing)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Firecrawl (web scraping + search)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Remotion (programmatic video generation)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Grok Imagine API (image-to-video)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8036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71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mlx-whisper (alignment), TTS narration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4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Markmap (mind maps), react-force-graph (knowledge graph)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617720"/>
            <a:ext cx="5029200" cy="713232"/>
          </a:xfrm>
          <a:prstGeom prst="round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1">
                <a:solidFill>
                  <a:srgbClr val="C8963E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0">
                <a:solidFill>
                  <a:srgbClr val="FDF8F0"/>
                </a:solidFill>
                <a:latin typeface="Calibri"/>
              </a:defRPr>
            </a:pPr>
            <a:r>
              <a:t>Docker Compose (4 services: frontend, backend, db, remotion)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9_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548640"/>
            <a:ext cx="731520" cy="54864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>
                <a:solidFill>
                  <a:srgbClr val="1E3A2F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Real-time collaborative learning (study groups)</a:t>
            </a:r>
          </a:p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Spaced repetition algorithm for flashcard scheduling</a:t>
            </a:r>
          </a:p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Teacher / instructor mode with class analytics</a:t>
            </a:r>
          </a:p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Mobile app (Capacitor integration already scaffolded)</a:t>
            </a:r>
          </a:p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Multi-language support with localized narration</a:t>
            </a:r>
          </a:p>
          <a:p>
            <a:pPr>
              <a:lnSpc>
                <a:spcPts val="3000"/>
              </a:lnSpc>
              <a:spcBef>
                <a:spcPts val="1400"/>
              </a:spcBef>
              <a:spcAft>
                <a:spcPts val="1400"/>
              </a:spcAft>
              <a:defRPr sz="2200">
                <a:solidFill>
                  <a:srgbClr val="1A1A1A"/>
                </a:solidFill>
                <a:latin typeface="Calibri"/>
              </a:defRPr>
              <a:buFont typeface="Arial"/>
              <a:buChar char="●"/>
              <a:buClr>
                <a:srgbClr val="C8963E"/>
              </a:buClr>
            </a:pPr>
            <a:r>
              <a:t>Adaptive difficulty that adjusts in real-time during lessons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00"/>
              </a:lnSpc>
              <a:defRPr sz="6400" b="0">
                <a:solidFill>
                  <a:srgbClr val="C8963E"/>
                </a:solidFill>
                <a:latin typeface="Calibri"/>
              </a:defRPr>
            </a:pPr>
            <a:r>
              <a:t>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defRPr sz="5600" b="1">
                <a:solidFill>
                  <a:srgbClr val="C8963E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defRPr sz="2200" b="0">
                <a:solidFill>
                  <a:srgbClr val="FDF8F0"/>
                </a:solidFill>
                <a:latin typeface="Calibri"/>
              </a:defRPr>
            </a:pPr>
            <a:r>
              <a:t>Built at FuseAPI AI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E8C87A"/>
                </a:solidFill>
                <a:latin typeface="Calibri"/>
              </a:defRPr>
            </a:pPr>
            <a:r>
              <a:t>Try it: 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8A8A7A"/>
                </a:solidFill>
                <a:latin typeface="Calibri"/>
              </a:defRPr>
            </a:pPr>
            <a:r>
              <a:t>Lumina — Learn anything, your 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